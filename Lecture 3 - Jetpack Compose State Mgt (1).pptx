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3.gif" ContentType="image/gif"/>
  <Override PartName="/ppt/media/image16.png" ContentType="image/png"/>
  <Override PartName="/ppt/media/image10.gif" ContentType="image/gif"/>
  <Override PartName="/ppt/media/image9.png" ContentType="image/png"/>
  <Override PartName="/ppt/media/image8.png" ContentType="image/png"/>
  <Override PartName="/ppt/media/image12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5.gif" ContentType="image/gif"/>
  <Override PartName="/ppt/media/image18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1.png" ContentType="image/png"/>
  <Override PartName="/ppt/media/image7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40000" y="180000"/>
            <a:ext cx="8280000" cy="292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1516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0000" y="33282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16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58308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62580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4000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58308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62580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30B8B1-9774-4734-B518-ABACC5D00B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D6FC6-A5D7-4C88-95D5-0C65F7CEC2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3D1EE-4051-41BC-A2C8-D9DCCDFDAC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ADB2C-D4E3-4FAC-9B48-845EC474B8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C895EA-338F-4D2F-8176-EB00DBADC9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540000" y="180000"/>
            <a:ext cx="8280000" cy="292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6C1A80-4586-4EE3-AD50-8E43D1DD62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FA862F-02C8-4EE4-A0B1-D8C3B82196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1516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A9B283-4560-4028-817E-114139EC91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82E1C6-1A04-4804-9491-451A411F63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40000" y="3328200"/>
            <a:ext cx="900000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7C58C-ABB5-4A4C-A814-31A07FCC28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1600" y="12600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400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5151600" y="3328200"/>
            <a:ext cx="4391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2572F-C16E-4056-8FDF-9AA71DD999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58308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625800" y="12600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54000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58308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625800" y="3328200"/>
            <a:ext cx="2897640" cy="188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C0D95-AAE7-4163-B06B-09F03C0CD1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756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8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8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40000" y="3060000"/>
            <a:ext cx="9000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2400" spc="-1" strike="noStrike"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100" spc="-1" strike="noStrike"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1800" spc="-1" strike="noStrike"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1500" spc="-1" strike="noStrike"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1500" spc="-1" strike="noStrike"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1500" spc="-1" strike="noStrike"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1500" spc="-1" strike="noStrike">
              <a:highlight>
                <a:srgbClr val="ffffff"/>
              </a:highlight>
              <a:latin typeface="Arial"/>
            </a:endParaRPr>
          </a:p>
        </p:txBody>
      </p:sp>
      <p:pic>
        <p:nvPicPr>
          <p:cNvPr id="2" name="" descr=""/>
          <p:cNvPicPr/>
          <p:nvPr/>
        </p:nvPicPr>
        <p:blipFill>
          <a:blip r:embed="rId2"/>
          <a:stretch/>
        </p:blipFill>
        <p:spPr>
          <a:xfrm>
            <a:off x="360000" y="1440000"/>
            <a:ext cx="9122400" cy="1440000"/>
          </a:xfrm>
          <a:prstGeom prst="rect">
            <a:avLst/>
          </a:prstGeom>
          <a:ln w="2520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-8640"/>
            <a:ext cx="10080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Click to edit the outline text format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Second Outline Level</a:t>
            </a:r>
            <a:endParaRPr b="0" lang="en-US" sz="2100" spc="-1" strike="noStrike"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latin typeface="Arial"/>
              </a:rPr>
              <a:t>Fourth Outline Level</a:t>
            </a:r>
            <a:endParaRPr b="0" lang="en-US" sz="1500" spc="-1" strike="noStrike"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Fifth Outline Level</a:t>
            </a:r>
            <a:endParaRPr b="0" lang="en-US" sz="1500" spc="-1" strike="noStrike"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Sixth Outline Level</a:t>
            </a:r>
            <a:endParaRPr b="0" lang="en-US" sz="1500" spc="-1" strike="noStrike"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latin typeface="Arial"/>
              </a:rPr>
              <a:t>Seventh Outline Level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"/>
          </p:nvPr>
        </p:nvSpPr>
        <p:spPr>
          <a:xfrm>
            <a:off x="54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Arial"/>
              </a:defRPr>
            </a:lvl1pPr>
          </a:lstStyle>
          <a:p>
            <a:r>
              <a:rPr b="0" lang="en-US" sz="1400" spc="-1" strike="noStrike">
                <a:latin typeface="Arial"/>
              </a:rPr>
              <a:t>&lt;date/time&gt;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Arial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Arial"/>
              </a:rPr>
              <a:t>&lt;footer&gt;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3"/>
          </p:nvPr>
        </p:nvSpPr>
        <p:spPr>
          <a:xfrm>
            <a:off x="7200000" y="5400000"/>
            <a:ext cx="2340000" cy="2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Arial"/>
              </a:defRPr>
            </a:lvl1pPr>
          </a:lstStyle>
          <a:p>
            <a:pPr algn="r">
              <a:buNone/>
            </a:pPr>
            <a:fld id="{5A0C1DB9-88AE-450D-BD23-83209817A79F}" type="slidenum">
              <a:rPr b="0" lang="en-US" sz="1400" spc="-1" strike="noStrike">
                <a:latin typeface="Arial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8820000" y="90000"/>
            <a:ext cx="756000" cy="720000"/>
          </a:xfrm>
          <a:prstGeom prst="rect">
            <a:avLst/>
          </a:prstGeom>
          <a:ln w="25200">
            <a:noFill/>
          </a:ln>
        </p:spPr>
      </p:pic>
      <p:pic>
        <p:nvPicPr>
          <p:cNvPr id="46" name="" descr=""/>
          <p:cNvPicPr/>
          <p:nvPr/>
        </p:nvPicPr>
        <p:blipFill>
          <a:blip r:embed="rId3"/>
          <a:stretch/>
        </p:blipFill>
        <p:spPr>
          <a:xfrm>
            <a:off x="180000" y="5220000"/>
            <a:ext cx="9720000" cy="180000"/>
          </a:xfrm>
          <a:prstGeom prst="rect">
            <a:avLst/>
          </a:prstGeom>
          <a:ln w="2520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gif"/><Relationship Id="rId3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gif"/><Relationship Id="rId4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0000" y="1620000"/>
            <a:ext cx="756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300" spc="-1" strike="noStrike">
                <a:solidFill>
                  <a:srgbClr val="ff8000"/>
                </a:solidFill>
                <a:highlight>
                  <a:srgbClr val="ffffff"/>
                </a:highlight>
                <a:latin typeface="Arial"/>
              </a:rPr>
              <a:t>Jetpack Compose State Mgt</a:t>
            </a:r>
            <a:endParaRPr b="0" lang="en-US" sz="3300" spc="-1" strike="noStrike">
              <a:solidFill>
                <a:srgbClr val="ff8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State in Compose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540000" y="125964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200" spc="-1" strike="noStrike">
                <a:highlight>
                  <a:srgbClr val="ffffff"/>
                </a:highlight>
                <a:latin typeface="Arial"/>
              </a:rPr>
              <a:t>An app's "state" is any value that can change over time. This is a very broad definition and encompasses everything from a Room database to a variable in a class.</a:t>
            </a:r>
            <a:endParaRPr b="0" lang="en-US" sz="2200" spc="-1" strike="noStrike">
              <a:highlight>
                <a:srgbClr val="ffffff"/>
              </a:highlight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highlight>
                  <a:srgbClr val="ffffff"/>
                </a:highlight>
                <a:latin typeface="Arial"/>
              </a:rPr>
              <a:t>The most recent messages received in a chat app.</a:t>
            </a:r>
            <a:endParaRPr b="0" lang="en-US" sz="2100" spc="-1" strike="noStrike">
              <a:highlight>
                <a:srgbClr val="ffffff"/>
              </a:highlight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highlight>
                  <a:srgbClr val="ffffff"/>
                </a:highlight>
                <a:latin typeface="Arial"/>
              </a:rPr>
              <a:t>The user's profile photo.</a:t>
            </a:r>
            <a:endParaRPr b="0" lang="en-US" sz="2100" spc="-1" strike="noStrike">
              <a:highlight>
                <a:srgbClr val="ffffff"/>
              </a:highlight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highlight>
                  <a:srgbClr val="ffffff"/>
                </a:highlight>
                <a:latin typeface="Arial"/>
              </a:rPr>
              <a:t>The scroll position in a list of items.</a:t>
            </a:r>
            <a:endParaRPr b="0" lang="en-US" sz="2100" spc="-1" strike="noStrike">
              <a:highlight>
                <a:srgbClr val="ffffff"/>
              </a:highlight>
              <a:latin typeface="Arial"/>
            </a:endParaRPr>
          </a:p>
          <a:p>
            <a:pPr algn="ctr">
              <a:buNone/>
            </a:pPr>
            <a:endParaRPr b="0" lang="en-US" sz="3200" spc="-1" strike="noStrike"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826AA-44F3-4186-8507-E8F3A8F109E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Events in Compose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40000" y="81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Events are inputs generated from outside or inside an </a:t>
            </a:r>
            <a:r>
              <a:rPr b="0" lang="en-US" sz="2400" spc="-1" strike="noStrike">
                <a:latin typeface="Arial"/>
              </a:rPr>
              <a:t>application, such as: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The user interacting with the UI by, for example, pressing a button.</a:t>
            </a:r>
            <a:endParaRPr b="0" lang="en-US" sz="21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Other factors, such as sensors sending a new value, or network </a:t>
            </a:r>
            <a:r>
              <a:rPr b="0" lang="en-US" sz="2100" spc="-1" strike="noStrike">
                <a:latin typeface="Arial"/>
              </a:rPr>
              <a:t>responses.</a:t>
            </a:r>
            <a:endParaRPr b="0" lang="en-US" sz="2100" spc="-1" strike="noStrike"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Event - An event is generated by the user or another part of the program.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Update State - An event handler changes the state that is used by the UI.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Display State - The UI is updated to display the new state.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429000" y="3680640"/>
            <a:ext cx="3141000" cy="157716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56DCD-1FDE-4970-B347-3B0D7E9F1A2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Example – Without State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70038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Assume the following code where clicking button increases the </a:t>
            </a:r>
            <a:r>
              <a:rPr b="0" lang="en-US" sz="1800" spc="-1" strike="noStrike">
                <a:latin typeface="Arial"/>
              </a:rPr>
              <a:t>count, but it doesn’t change the UI.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This is because we haven't told Compose that it should redraw the </a:t>
            </a:r>
            <a:r>
              <a:rPr b="0" lang="en-US" sz="1800" spc="-1" strike="noStrike">
                <a:latin typeface="Arial"/>
              </a:rPr>
              <a:t>screen (that is, "recompose" the composable function).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823320" y="2789280"/>
            <a:ext cx="5120280" cy="2239920"/>
          </a:xfrm>
          <a:prstGeom prst="rect">
            <a:avLst/>
          </a:prstGeom>
          <a:ln w="2520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8001000" y="1143000"/>
            <a:ext cx="1937880" cy="430668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90C7AC-669E-44E8-99E5-53336FC403D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State and composition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Compose is declarative and as such the only way to update it is </a:t>
            </a:r>
            <a:r>
              <a:rPr b="0" lang="en-US" sz="2400" spc="-1" strike="noStrike">
                <a:latin typeface="Arial"/>
              </a:rPr>
              <a:t>by calling the same composable with new arguments.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Any time a state is updated a recomposition takes place.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Composable functions can use the </a:t>
            </a:r>
            <a:r>
              <a:rPr b="1" lang="en-US" sz="2400" spc="-1" strike="noStrike">
                <a:solidFill>
                  <a:srgbClr val="bf0041"/>
                </a:solidFill>
                <a:latin typeface="Arial"/>
              </a:rPr>
              <a:t>remember API</a:t>
            </a:r>
            <a:r>
              <a:rPr b="0" lang="en-US" sz="2400" spc="-1" strike="noStrike">
                <a:latin typeface="Arial"/>
              </a:rPr>
              <a:t> to store an </a:t>
            </a:r>
            <a:r>
              <a:rPr b="0" lang="en-US" sz="2400" spc="-1" strike="noStrike">
                <a:latin typeface="Arial"/>
              </a:rPr>
              <a:t>object in memory.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 value computed by remember is stored in the Composition </a:t>
            </a:r>
            <a:r>
              <a:rPr b="0" lang="en-US" sz="2400" spc="-1" strike="noStrike">
                <a:latin typeface="Arial"/>
              </a:rPr>
              <a:t>during initial composition, and the stored value is returned </a:t>
            </a:r>
            <a:r>
              <a:rPr b="0" lang="en-US" sz="2400" spc="-1" strike="noStrike">
                <a:latin typeface="Arial"/>
              </a:rPr>
              <a:t>during recomposition.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514600" y="4556160"/>
            <a:ext cx="5715000" cy="47304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DA214-EFEE-4F50-845D-3E5A5994BC1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Mutable State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latin typeface="Arial"/>
              </a:rPr>
              <a:t>Any changes to </a:t>
            </a:r>
            <a:r>
              <a:rPr b="1" lang="en-US" sz="2100" spc="-1" strike="noStrike">
                <a:latin typeface="Arial"/>
              </a:rPr>
              <a:t>value</a:t>
            </a:r>
            <a:r>
              <a:rPr b="0" lang="en-US" sz="2100" spc="-1" strike="noStrike">
                <a:latin typeface="Arial"/>
              </a:rPr>
              <a:t> schedules recomposition of any composable </a:t>
            </a:r>
            <a:r>
              <a:rPr b="0" lang="en-US" sz="2100" spc="-1" strike="noStrike">
                <a:latin typeface="Arial"/>
              </a:rPr>
              <a:t>functions that read value.</a:t>
            </a:r>
            <a:endParaRPr b="0" lang="en-US" sz="21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latin typeface="Arial"/>
              </a:rPr>
              <a:t>There are three ways to declare a MutableState object in a composable:</a:t>
            </a:r>
            <a:endParaRPr b="0" lang="en-US" sz="21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val mutableState = remember { mutableStateOf(default) }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var value by remember { mutableStateOf(default) }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val (value, setValue) = remember { mutableStateOf(default) }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1FFBB-0E42-4DCF-AE0E-873812A1F88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Memory in a composable function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2286000" y="1752840"/>
            <a:ext cx="4572000" cy="761760"/>
          </a:xfrm>
          <a:prstGeom prst="rect">
            <a:avLst/>
          </a:prstGeom>
          <a:ln w="2520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Compose apps transform data into UI by calling composable </a:t>
            </a:r>
            <a:r>
              <a:rPr b="0" lang="en-US" sz="2400" spc="-1" strike="noStrike">
                <a:latin typeface="Arial"/>
              </a:rPr>
              <a:t>functions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We refer to </a:t>
            </a:r>
            <a:r>
              <a:rPr b="1" lang="en-US" sz="2400" spc="-1" strike="noStrike">
                <a:latin typeface="Arial"/>
              </a:rPr>
              <a:t>the Composition</a:t>
            </a:r>
            <a:r>
              <a:rPr b="0" lang="en-US" sz="2400" spc="-1" strike="noStrike">
                <a:latin typeface="Arial"/>
              </a:rPr>
              <a:t> as the description of the UI built </a:t>
            </a:r>
            <a:r>
              <a:rPr b="0" lang="en-US" sz="2400" spc="-1" strike="noStrike">
                <a:latin typeface="Arial"/>
              </a:rPr>
              <a:t>by Compose when it executes composables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If a state change happens, Compose re-executes the affected </a:t>
            </a:r>
            <a:r>
              <a:rPr b="0" lang="en-US" sz="2400" spc="-1" strike="noStrike">
                <a:latin typeface="Arial"/>
              </a:rPr>
              <a:t>composable functions with the new state, creating an updated </a:t>
            </a:r>
            <a:r>
              <a:rPr b="0" lang="en-US" sz="2400" spc="-1" strike="noStrike">
                <a:latin typeface="Arial"/>
              </a:rPr>
              <a:t>UI—this is called </a:t>
            </a:r>
            <a:r>
              <a:rPr b="1" lang="en-US" sz="2400" spc="-1" strike="noStrike">
                <a:latin typeface="Arial"/>
              </a:rPr>
              <a:t>recomposition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Compose also looks at what data an individual composable </a:t>
            </a:r>
            <a:r>
              <a:rPr b="0" lang="en-US" sz="2400" spc="-1" strike="noStrike">
                <a:latin typeface="Arial"/>
              </a:rPr>
              <a:t>needs, so that it only recomposes components whose data has </a:t>
            </a:r>
            <a:r>
              <a:rPr b="0" lang="en-US" sz="2400" spc="-1" strike="noStrike">
                <a:latin typeface="Arial"/>
              </a:rPr>
              <a:t>changed and skips those that are not affected.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7BCF30-C4AD-494D-83CE-F771370CFF1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Using the State with the previous example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7461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Lets update </a:t>
            </a:r>
            <a:r>
              <a:rPr b="1" lang="en-US" sz="1600" spc="-1" strike="noStrike">
                <a:latin typeface="Arial"/>
              </a:rPr>
              <a:t>WaterCounter</a:t>
            </a:r>
            <a:r>
              <a:rPr b="0" lang="en-US" sz="1600" spc="-1" strike="noStrike">
                <a:latin typeface="Arial"/>
              </a:rPr>
              <a:t> composable, so that </a:t>
            </a:r>
            <a:r>
              <a:rPr b="1" lang="en-US" sz="1600" spc="-1" strike="noStrike">
                <a:latin typeface="Arial"/>
              </a:rPr>
              <a:t>count</a:t>
            </a:r>
            <a:r>
              <a:rPr b="0" lang="en-US" sz="1600" spc="-1" strike="noStrike">
                <a:latin typeface="Arial"/>
              </a:rPr>
              <a:t> uses </a:t>
            </a:r>
            <a:r>
              <a:rPr b="1" lang="en-US" sz="1600" spc="-1" strike="noStrike">
                <a:latin typeface="Arial"/>
              </a:rPr>
              <a:t>mutableStateOf</a:t>
            </a:r>
            <a:r>
              <a:rPr b="0" lang="en-US" sz="1600" spc="-1" strike="noStrike">
                <a:latin typeface="Arial"/>
              </a:rPr>
              <a:t> API with </a:t>
            </a:r>
            <a:r>
              <a:rPr b="1" lang="en-US" sz="1600" spc="-1" strike="noStrike">
                <a:latin typeface="Arial"/>
              </a:rPr>
              <a:t>0</a:t>
            </a:r>
            <a:r>
              <a:rPr b="0" lang="en-US" sz="1600" spc="-1" strike="noStrike">
                <a:latin typeface="Arial"/>
              </a:rPr>
              <a:t> as initial value.</a:t>
            </a:r>
            <a:endParaRPr b="0" lang="en-US" sz="16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Even after updating the code, we can see there are no UI changes.</a:t>
            </a:r>
            <a:endParaRPr b="0" lang="en-US" sz="16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latin typeface="Arial"/>
              </a:rPr>
              <a:t>Scheduling </a:t>
            </a:r>
            <a:r>
              <a:rPr b="1" lang="en-US" sz="1600" spc="-1" strike="noStrike">
                <a:latin typeface="Arial"/>
              </a:rPr>
              <a:t>recompositions</a:t>
            </a:r>
            <a:r>
              <a:rPr b="0" lang="en-US" sz="1600" spc="-1" strike="noStrike">
                <a:latin typeface="Arial"/>
              </a:rPr>
              <a:t> is working fine. However, when a recomposition happens, the variable </a:t>
            </a:r>
            <a:r>
              <a:rPr b="1" lang="en-US" sz="1600" spc="-1" strike="noStrike">
                <a:latin typeface="Arial"/>
              </a:rPr>
              <a:t>count</a:t>
            </a:r>
            <a:r>
              <a:rPr b="0" lang="en-US" sz="1600" spc="-1" strike="noStrike">
                <a:latin typeface="Arial"/>
              </a:rPr>
              <a:t> is re-initialized back to </a:t>
            </a:r>
            <a:r>
              <a:rPr b="1" lang="en-US" sz="1600" spc="-1" strike="noStrike">
                <a:latin typeface="Arial"/>
              </a:rPr>
              <a:t>0</a:t>
            </a:r>
            <a:r>
              <a:rPr b="0" lang="en-US" sz="1600" spc="-1" strike="noStrike">
                <a:latin typeface="Arial"/>
              </a:rPr>
              <a:t>, so we need a way to </a:t>
            </a:r>
            <a:r>
              <a:rPr b="1" lang="en-US" sz="1600" spc="-1" strike="noStrike" u="sng">
                <a:uFillTx/>
                <a:latin typeface="Arial"/>
              </a:rPr>
              <a:t>preserve this value across recompositions.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914400" y="2971800"/>
            <a:ext cx="5577480" cy="2140920"/>
          </a:xfrm>
          <a:prstGeom prst="rect">
            <a:avLst/>
          </a:prstGeom>
          <a:ln w="2520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8001000" y="1179720"/>
            <a:ext cx="1834920" cy="407808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D9303-73A9-4A9C-8F9F-D4C8E09AF42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Updating Code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Let’s add the MutableState from remember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28600" y="1867680"/>
            <a:ext cx="4663080" cy="1789920"/>
          </a:xfrm>
          <a:prstGeom prst="rect">
            <a:avLst/>
          </a:prstGeom>
          <a:ln w="2520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228600" y="3886200"/>
            <a:ext cx="4572000" cy="1526760"/>
          </a:xfrm>
          <a:prstGeom prst="rect">
            <a:avLst/>
          </a:prstGeom>
          <a:ln w="2520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7229160" y="914400"/>
            <a:ext cx="2143440" cy="476388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E93BD-41C6-487C-B1E5-FB83784077E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Activity Life Cycle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40000" y="914400"/>
            <a:ext cx="9000000" cy="430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An </a:t>
            </a:r>
            <a:r>
              <a:rPr b="1" lang="en-US" sz="2400" spc="-1" strike="noStrike">
                <a:latin typeface="Arial"/>
              </a:rPr>
              <a:t>Activity</a:t>
            </a:r>
            <a:r>
              <a:rPr b="0" lang="en-US" sz="2400" spc="-1" strike="noStrike">
                <a:latin typeface="Arial"/>
              </a:rPr>
              <a:t> is an application component that provides a screen with which users can interact in order to do something.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As a user navigates through, out of, and back to our app, the Activity instances in our app transition through different states in their lifecycle.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Within the lifecycle callback methods, we can declare how our activity behaves when the user leaves and re-enters the activity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For example, good implementation of the lifecycle callbacks can help your app avoid the following: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Crashing if the user receives a phone call or switches to another app while using your app.</a:t>
            </a:r>
            <a:endParaRPr b="0" lang="en-US" sz="21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Consuming valuable system resources when the user is not actively using it.</a:t>
            </a:r>
            <a:endParaRPr b="0" lang="en-US" sz="21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Losing the user's progress if they leave your app and return to it at a later time.</a:t>
            </a:r>
            <a:endParaRPr b="0" lang="en-US" sz="21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latin typeface="Arial"/>
              </a:rPr>
              <a:t>Crashing or losing the user's progress when the screen rotates between landscape and portrait orientation.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D0702-6E42-4238-AA16-06458B4CD4DD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Activity Life Cycle – Contd...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277440" y="685800"/>
            <a:ext cx="3580560" cy="4627440"/>
          </a:xfrm>
          <a:prstGeom prst="rect">
            <a:avLst/>
          </a:prstGeom>
          <a:ln w="252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1F271-D03B-4983-9D06-956D4A36B5B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Restore state in Compose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11400" y="1260000"/>
            <a:ext cx="56322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When the screen is rotated, the activity is recreated. Hence all the data which was stored by remember is removed.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The same happens if you change language, switch between dark and light mode, or any other configuration change that makes Android recreate the running Activity.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While remember helps you retain state across recompositions, it's not retained across configuration changes. For this, you must use rememberSaveable instead of remember.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rememberSaveable automatically saves any value that can be saved in a Bundle. For other values, you can pass in a custom saver object. For more information on Restoring state in Compose, check out the documentation.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6071760" y="914400"/>
            <a:ext cx="3986640" cy="453528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172CE6-2BCC-4FBF-AB65-7BF6D594C04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Updated code to remember the state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685800" y="1745280"/>
            <a:ext cx="4525920" cy="1455120"/>
          </a:xfrm>
          <a:prstGeom prst="rect">
            <a:avLst/>
          </a:prstGeom>
          <a:ln w="252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4C618-84B4-4062-A3F6-D25CA33EE19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Stateful vs Stateless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 stateless composable is a composable that doesn't own any </a:t>
            </a:r>
            <a:r>
              <a:rPr b="0" lang="en-US" sz="2400" spc="-1" strike="noStrike">
                <a:latin typeface="Arial"/>
              </a:rPr>
              <a:t>state, meaning it doesn't hold or define or modify new state.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A stateful composable is a composable that owns a piece of </a:t>
            </a:r>
            <a:r>
              <a:rPr b="0" lang="en-US" sz="2400" spc="-1" strike="noStrike">
                <a:latin typeface="Arial"/>
              </a:rPr>
              <a:t>state that can change over time.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In real apps, having a 100% stateless composable can be </a:t>
            </a:r>
            <a:r>
              <a:rPr b="0" lang="en-US" sz="2400" spc="-1" strike="noStrike">
                <a:latin typeface="Arial"/>
              </a:rPr>
              <a:t>difficult to achieve depending on the composable's </a:t>
            </a:r>
            <a:r>
              <a:rPr b="0" lang="en-US" sz="2400" spc="-1" strike="noStrike">
                <a:latin typeface="Arial"/>
              </a:rPr>
              <a:t>responsibilities. You should design your composables in a way </a:t>
            </a:r>
            <a:r>
              <a:rPr b="0" lang="en-US" sz="2400" spc="-1" strike="noStrike">
                <a:latin typeface="Arial"/>
              </a:rPr>
              <a:t>that they will own as little state as possible and allow the state </a:t>
            </a:r>
            <a:r>
              <a:rPr b="0" lang="en-US" sz="2400" spc="-1" strike="noStrike">
                <a:latin typeface="Arial"/>
              </a:rPr>
              <a:t>to be hoisted, when it makes sense, by exposing it in the </a:t>
            </a:r>
            <a:r>
              <a:rPr b="0" lang="en-US" sz="2400" spc="-1" strike="noStrike">
                <a:latin typeface="Arial"/>
              </a:rPr>
              <a:t>composable's API.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A59BA-9D4B-42A8-8922-130B36A9482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State Hoisting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44000" y="1069200"/>
            <a:ext cx="8314200" cy="37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State hoisting in Compose is a pattern of moving state to a composable's caller to </a:t>
            </a:r>
            <a:r>
              <a:rPr b="0" lang="en-US" sz="1800" spc="-1" strike="noStrike">
                <a:latin typeface="Arial"/>
              </a:rPr>
              <a:t>make a composable stateless. 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State hoisting is a design pattern that helps manage the state of a Composable </a:t>
            </a:r>
            <a:r>
              <a:rPr b="0" lang="en-US" sz="1800" spc="-1" strike="noStrike">
                <a:latin typeface="Arial"/>
              </a:rPr>
              <a:t>function by lifting the state up to a higher-level function or a parent Composable.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The idea behind state hoisting is to keep the stateful logic in a single place, usually </a:t>
            </a:r>
            <a:r>
              <a:rPr b="0" lang="en-US" sz="1800" spc="-1" strike="noStrike">
                <a:latin typeface="Arial"/>
              </a:rPr>
              <a:t>in the parent Composable, and pass the state down as a parameter to the child </a:t>
            </a:r>
            <a:r>
              <a:rPr b="0" lang="en-US" sz="1800" spc="-1" strike="noStrike">
                <a:latin typeface="Arial"/>
              </a:rPr>
              <a:t>Composables that need it. </a:t>
            </a:r>
            <a:endParaRPr b="0" lang="en-US" sz="1800" spc="-1" strike="noStrike">
              <a:latin typeface="Arial"/>
            </a:endParaRPr>
          </a:p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The general pattern for state hoisting in Jetpack Compose is to replace the state </a:t>
            </a:r>
            <a:r>
              <a:rPr b="0" lang="en-US" sz="1800" spc="-1" strike="noStrike">
                <a:latin typeface="Arial"/>
              </a:rPr>
              <a:t>variable with two parameters: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value: T - the current value to display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ff66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onValueChange: (T) -&gt; Unit - an event that requests the value to change with a </a:t>
            </a:r>
            <a:r>
              <a:rPr b="0" lang="en-US" sz="1800" spc="-1" strike="noStrike">
                <a:latin typeface="Arial"/>
              </a:rPr>
              <a:t>new value T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8458200" y="2057400"/>
            <a:ext cx="1488600" cy="182880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7969D-1B80-42EB-BF97-21FBC0C13C2B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2700" spc="-1" strike="noStrike">
                <a:solidFill>
                  <a:srgbClr val="ff6600"/>
                </a:solidFill>
                <a:latin typeface="Arial"/>
              </a:rPr>
              <a:t>Modifying the example code</a:t>
            </a:r>
            <a:endParaRPr b="0" lang="en-US" sz="2700" spc="-1" strike="noStrike">
              <a:solidFill>
                <a:srgbClr val="ff66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54"/>
              </a:spcBef>
              <a:buClr>
                <a:srgbClr val="ff66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Lets divide the watercount code into two composables, stateful </a:t>
            </a:r>
            <a:r>
              <a:rPr b="0" lang="en-US" sz="2400" spc="-1" strike="noStrike">
                <a:latin typeface="Arial"/>
              </a:rPr>
              <a:t>and stateless:</a:t>
            </a:r>
            <a:br>
              <a:rPr sz="2400"/>
            </a:br>
            <a:r>
              <a:rPr b="0" lang="en-US" sz="2400" spc="-1" strike="noStrike">
                <a:latin typeface="Arial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929880" y="1920600"/>
            <a:ext cx="6385320" cy="1737000"/>
          </a:xfrm>
          <a:prstGeom prst="rect">
            <a:avLst/>
          </a:prstGeom>
          <a:ln w="2520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914400" y="3886200"/>
            <a:ext cx="3969720" cy="898920"/>
          </a:xfrm>
          <a:prstGeom prst="rect">
            <a:avLst/>
          </a:prstGeom>
          <a:ln w="252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395C7E-0C9C-4B28-86A5-81A424E7F417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2024-02-20T14:07:32Z</dcterms:created>
  <dc:creator/>
  <dc:description/>
  <dc:language>en-US</dc:language>
  <cp:lastModifiedBy/>
  <dcterms:modified xsi:type="dcterms:W3CDTF">2024-02-20T15:12:18Z</dcterms:modified>
  <cp:revision>75</cp:revision>
  <dc:subject/>
  <dc:title>Pencil</dc:title>
</cp:coreProperties>
</file>